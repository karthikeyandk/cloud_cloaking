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45"/>
  </p:handoutMasterIdLst>
  <p:sldIdLst>
    <p:sldId id="256" r:id="rId3"/>
    <p:sldId id="285" r:id="rId4"/>
    <p:sldId id="286" r:id="rId5"/>
    <p:sldId id="287" r:id="rId6"/>
    <p:sldId id="288" r:id="rId8"/>
    <p:sldId id="289" r:id="rId9"/>
    <p:sldId id="290" r:id="rId10"/>
    <p:sldId id="416" r:id="rId11"/>
    <p:sldId id="291" r:id="rId12"/>
    <p:sldId id="313" r:id="rId13"/>
    <p:sldId id="292" r:id="rId14"/>
    <p:sldId id="314" r:id="rId15"/>
    <p:sldId id="293" r:id="rId16"/>
    <p:sldId id="296" r:id="rId17"/>
    <p:sldId id="294" r:id="rId18"/>
    <p:sldId id="295" r:id="rId19"/>
    <p:sldId id="297" r:id="rId20"/>
    <p:sldId id="298" r:id="rId21"/>
    <p:sldId id="315" r:id="rId22"/>
    <p:sldId id="302" r:id="rId23"/>
    <p:sldId id="303" r:id="rId24"/>
    <p:sldId id="305" r:id="rId25"/>
    <p:sldId id="306" r:id="rId26"/>
    <p:sldId id="307" r:id="rId27"/>
    <p:sldId id="308" r:id="rId28"/>
    <p:sldId id="309" r:id="rId29"/>
    <p:sldId id="406" r:id="rId30"/>
    <p:sldId id="354" r:id="rId31"/>
    <p:sldId id="355" r:id="rId32"/>
    <p:sldId id="356" r:id="rId33"/>
    <p:sldId id="357" r:id="rId34"/>
    <p:sldId id="361" r:id="rId35"/>
    <p:sldId id="417" r:id="rId36"/>
    <p:sldId id="418" r:id="rId37"/>
    <p:sldId id="419" r:id="rId38"/>
    <p:sldId id="420" r:id="rId39"/>
    <p:sldId id="421" r:id="rId40"/>
    <p:sldId id="422" r:id="rId41"/>
    <p:sldId id="358" r:id="rId42"/>
    <p:sldId id="405" r:id="rId43"/>
    <p:sldId id="274" r:id="rId44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Microsoft YaHei Light" panose="020B0502040204020203" pitchFamily="34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Microsoft YaHei Light" panose="020B0502040204020203" pitchFamily="34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Microsoft YaHei Light" panose="020B0502040204020203" pitchFamily="34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Microsoft YaHei Light" panose="020B0502040204020203" pitchFamily="34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Microsoft YaHei Light" panose="020B0502040204020203" pitchFamily="34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Microsoft YaHei Light" panose="020B0502040204020203" pitchFamily="34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Microsoft YaHei Light" panose="020B0502040204020203" pitchFamily="34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Microsoft YaHei Light" panose="020B0502040204020203" pitchFamily="34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Microsoft YaHei Light" panose="020B0502040204020203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91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7C5A"/>
    <a:srgbClr val="E08648"/>
    <a:srgbClr val="E36C64"/>
    <a:srgbClr val="675E8C"/>
    <a:srgbClr val="27282C"/>
    <a:srgbClr val="1665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>
        <p:guide pos="391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66" d="100"/>
        <a:sy n="66" d="100"/>
      </p:scale>
      <p:origin x="0" y="-82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handoutMaster" Target="handoutMasters/handoutMaster1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0F9B84EA-7D68-4D60-9CB1-D50884785D1C}" type="datetimeFigureOut">
              <a:rPr lang="zh-CN" altLang="en-US" strike="noStrike" noProof="1" smtClean="0">
                <a:latin typeface="Calibri" panose="020F0502020204030204" pitchFamily="34" charset="0"/>
                <a:ea typeface="Microsoft YaHei Light" panose="020B0502040204020203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8D4E0FC9-F1F8-4FAE-9988-3BA365CFD46F}" type="slidenum">
              <a:rPr lang="zh-CN" altLang="en-US" strike="noStrike" noProof="1" smtClean="0">
                <a:latin typeface="Calibri" panose="020F0502020204030204" pitchFamily="34" charset="0"/>
                <a:ea typeface="Microsoft YaHei Light" panose="020B0502040204020203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Arial" panose="020B0604020202020204" pitchFamily="34" charset="0"/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Arial" panose="020B0604020202020204" pitchFamily="34" charset="0"/>
              </a:defRPr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Calibri" panose="020F0502020204030204" pitchFamily="34" charset="0"/>
                <a:ea typeface="Arial" panose="020B0604020202020204" pitchFamily="34" charset="0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148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149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Arial" panose="020B0604020202020204" pitchFamily="34" charset="0"/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Arial" panose="020B0604020202020204" pitchFamily="34" charset="0"/>
              </a:defRPr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Calibri" panose="020F0502020204030204" pitchFamily="34" charset="0"/>
                <a:ea typeface="Arial" panose="020B0604020202020204" pitchFamily="34" charset="0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272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/>
        </p:nvSpPr>
        <p:spPr>
          <a:xfrm>
            <a:off x="0" y="-17462"/>
            <a:ext cx="5095875" cy="4667250"/>
          </a:xfrm>
          <a:custGeom>
            <a:avLst/>
            <a:gdLst>
              <a:gd name="connsiteX0" fmla="*/ 0 w 5095525"/>
              <a:gd name="connsiteY0" fmla="*/ 0 h 4666400"/>
              <a:gd name="connsiteX1" fmla="*/ 5095525 w 5095525"/>
              <a:gd name="connsiteY1" fmla="*/ 0 h 4666400"/>
              <a:gd name="connsiteX2" fmla="*/ 2389013 w 5095525"/>
              <a:gd name="connsiteY2" fmla="*/ 4666400 h 4666400"/>
              <a:gd name="connsiteX3" fmla="*/ 0 w 5095525"/>
              <a:gd name="connsiteY3" fmla="*/ 547414 h 4666400"/>
              <a:gd name="connsiteX4" fmla="*/ 0 w 5095525"/>
              <a:gd name="connsiteY4" fmla="*/ 0 h 466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95525" h="4666400">
                <a:moveTo>
                  <a:pt x="0" y="0"/>
                </a:moveTo>
                <a:lnTo>
                  <a:pt x="5095525" y="0"/>
                </a:lnTo>
                <a:lnTo>
                  <a:pt x="2389013" y="4666400"/>
                </a:lnTo>
                <a:lnTo>
                  <a:pt x="0" y="547414"/>
                </a:lnTo>
                <a:lnTo>
                  <a:pt x="0" y="0"/>
                </a:lnTo>
                <a:close/>
              </a:path>
            </a:pathLst>
          </a:custGeom>
          <a:solidFill>
            <a:srgbClr val="1C7C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等腰三角形 7"/>
          <p:cNvSpPr/>
          <p:nvPr/>
        </p:nvSpPr>
        <p:spPr>
          <a:xfrm>
            <a:off x="315913" y="4041775"/>
            <a:ext cx="3265488" cy="2816225"/>
          </a:xfrm>
          <a:prstGeom prst="triangle">
            <a:avLst/>
          </a:prstGeom>
          <a:solidFill>
            <a:srgbClr val="E086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任意多边形 8"/>
          <p:cNvSpPr/>
          <p:nvPr/>
        </p:nvSpPr>
        <p:spPr>
          <a:xfrm>
            <a:off x="0" y="4649788"/>
            <a:ext cx="800100" cy="2208213"/>
          </a:xfrm>
          <a:custGeom>
            <a:avLst/>
            <a:gdLst>
              <a:gd name="connsiteX0" fmla="*/ 317500 w 800100"/>
              <a:gd name="connsiteY0" fmla="*/ 0 h 1676400"/>
              <a:gd name="connsiteX1" fmla="*/ 0 w 800100"/>
              <a:gd name="connsiteY1" fmla="*/ 419100 h 1676400"/>
              <a:gd name="connsiteX2" fmla="*/ 0 w 800100"/>
              <a:gd name="connsiteY2" fmla="*/ 1676400 h 1676400"/>
              <a:gd name="connsiteX3" fmla="*/ 800100 w 800100"/>
              <a:gd name="connsiteY3" fmla="*/ 1676400 h 1676400"/>
              <a:gd name="connsiteX4" fmla="*/ 317500 w 800100"/>
              <a:gd name="connsiteY4" fmla="*/ 0 h 167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0100" h="1676400">
                <a:moveTo>
                  <a:pt x="317500" y="0"/>
                </a:moveTo>
                <a:lnTo>
                  <a:pt x="0" y="419100"/>
                </a:lnTo>
                <a:lnTo>
                  <a:pt x="0" y="1676400"/>
                </a:lnTo>
                <a:lnTo>
                  <a:pt x="800100" y="1676400"/>
                </a:lnTo>
                <a:lnTo>
                  <a:pt x="317500" y="0"/>
                </a:lnTo>
                <a:close/>
              </a:path>
            </a:pathLst>
          </a:custGeom>
          <a:solidFill>
            <a:srgbClr val="E36C6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>
          <a:xfrm>
            <a:off x="0" y="4838700"/>
            <a:ext cx="1724025" cy="1487488"/>
          </a:xfrm>
          <a:prstGeom prst="triangle">
            <a:avLst/>
          </a:prstGeom>
          <a:solidFill>
            <a:srgbClr val="675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等腰三角形 10"/>
          <p:cNvSpPr/>
          <p:nvPr/>
        </p:nvSpPr>
        <p:spPr>
          <a:xfrm flipV="1">
            <a:off x="996950" y="1765300"/>
            <a:ext cx="1517650" cy="1308100"/>
          </a:xfrm>
          <a:prstGeom prst="triangle">
            <a:avLst/>
          </a:prstGeom>
          <a:solidFill>
            <a:srgbClr val="16654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任意多边形 11"/>
          <p:cNvSpPr/>
          <p:nvPr/>
        </p:nvSpPr>
        <p:spPr>
          <a:xfrm>
            <a:off x="0" y="439738"/>
            <a:ext cx="2754313" cy="3300413"/>
          </a:xfrm>
          <a:custGeom>
            <a:avLst/>
            <a:gdLst>
              <a:gd name="connsiteX0" fmla="*/ 0 w 2754101"/>
              <a:gd name="connsiteY0" fmla="*/ 0 h 3300541"/>
              <a:gd name="connsiteX1" fmla="*/ 2754101 w 2754101"/>
              <a:gd name="connsiteY1" fmla="*/ 0 h 3300541"/>
              <a:gd name="connsiteX2" fmla="*/ 839788 w 2754101"/>
              <a:gd name="connsiteY2" fmla="*/ 3300541 h 3300541"/>
              <a:gd name="connsiteX3" fmla="*/ 0 w 2754101"/>
              <a:gd name="connsiteY3" fmla="*/ 1852631 h 3300541"/>
              <a:gd name="connsiteX4" fmla="*/ 0 w 2754101"/>
              <a:gd name="connsiteY4" fmla="*/ 0 h 3300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54101" h="3300541">
                <a:moveTo>
                  <a:pt x="0" y="0"/>
                </a:moveTo>
                <a:lnTo>
                  <a:pt x="2754101" y="0"/>
                </a:lnTo>
                <a:lnTo>
                  <a:pt x="839788" y="3300541"/>
                </a:lnTo>
                <a:lnTo>
                  <a:pt x="0" y="1852631"/>
                </a:lnTo>
                <a:lnTo>
                  <a:pt x="0" y="0"/>
                </a:lnTo>
                <a:close/>
              </a:path>
            </a:pathLst>
          </a:custGeom>
          <a:solidFill>
            <a:srgbClr val="16654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438314" y="2261762"/>
            <a:ext cx="7913899" cy="2387600"/>
          </a:xfrm>
        </p:spPr>
        <p:txBody>
          <a:bodyPr anchor="b"/>
          <a:lstStyle>
            <a:lvl1pPr algn="l">
              <a:defRPr sz="6000" b="1" spc="300" baseline="0">
                <a:solidFill>
                  <a:schemeClr val="bg1"/>
                </a:solidFill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438314" y="4741437"/>
            <a:ext cx="7913899" cy="1655762"/>
          </a:xfrm>
        </p:spPr>
        <p:txBody>
          <a:bodyPr/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8D2A4B-6B55-4738-B7E3-8F0F6C09A17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title">
    <p:bg>
      <p:bgPr>
        <a:solidFill>
          <a:srgbClr val="272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/>
        </p:nvSpPr>
        <p:spPr>
          <a:xfrm>
            <a:off x="0" y="3636963"/>
            <a:ext cx="1166813" cy="3221038"/>
          </a:xfrm>
          <a:custGeom>
            <a:avLst/>
            <a:gdLst>
              <a:gd name="connsiteX0" fmla="*/ 317500 w 800100"/>
              <a:gd name="connsiteY0" fmla="*/ 0 h 1676400"/>
              <a:gd name="connsiteX1" fmla="*/ 0 w 800100"/>
              <a:gd name="connsiteY1" fmla="*/ 419100 h 1676400"/>
              <a:gd name="connsiteX2" fmla="*/ 0 w 800100"/>
              <a:gd name="connsiteY2" fmla="*/ 1676400 h 1676400"/>
              <a:gd name="connsiteX3" fmla="*/ 800100 w 800100"/>
              <a:gd name="connsiteY3" fmla="*/ 1676400 h 1676400"/>
              <a:gd name="connsiteX4" fmla="*/ 317500 w 800100"/>
              <a:gd name="connsiteY4" fmla="*/ 0 h 167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0100" h="1676400">
                <a:moveTo>
                  <a:pt x="317500" y="0"/>
                </a:moveTo>
                <a:lnTo>
                  <a:pt x="0" y="419100"/>
                </a:lnTo>
                <a:lnTo>
                  <a:pt x="0" y="1676400"/>
                </a:lnTo>
                <a:lnTo>
                  <a:pt x="800100" y="1676400"/>
                </a:lnTo>
                <a:lnTo>
                  <a:pt x="317500" y="0"/>
                </a:lnTo>
                <a:close/>
              </a:path>
            </a:pathLst>
          </a:custGeom>
          <a:solidFill>
            <a:srgbClr val="E36C6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0" y="3527425"/>
            <a:ext cx="1931988" cy="3330575"/>
          </a:xfrm>
          <a:custGeom>
            <a:avLst/>
            <a:gdLst>
              <a:gd name="connsiteX0" fmla="*/ 0 w 1932106"/>
              <a:gd name="connsiteY0" fmla="*/ 0 h 3331217"/>
              <a:gd name="connsiteX1" fmla="*/ 1932106 w 1932106"/>
              <a:gd name="connsiteY1" fmla="*/ 3331217 h 3331217"/>
              <a:gd name="connsiteX2" fmla="*/ 0 w 1932106"/>
              <a:gd name="connsiteY2" fmla="*/ 3331217 h 3331217"/>
              <a:gd name="connsiteX3" fmla="*/ 0 w 1932106"/>
              <a:gd name="connsiteY3" fmla="*/ 0 h 3331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2106" h="3331217">
                <a:moveTo>
                  <a:pt x="0" y="0"/>
                </a:moveTo>
                <a:lnTo>
                  <a:pt x="1932106" y="3331217"/>
                </a:lnTo>
                <a:lnTo>
                  <a:pt x="0" y="3331217"/>
                </a:lnTo>
                <a:lnTo>
                  <a:pt x="0" y="0"/>
                </a:lnTo>
                <a:close/>
              </a:path>
            </a:pathLst>
          </a:custGeom>
          <a:solidFill>
            <a:srgbClr val="E086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1709738"/>
            <a:ext cx="10280650" cy="2852737"/>
          </a:xfrm>
        </p:spPr>
        <p:txBody>
          <a:bodyPr anchor="b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66800" y="4589463"/>
            <a:ext cx="1028065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8D2A4B-6B55-4738-B7E3-8F0F6C09A17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272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6"/>
          <p:cNvGrpSpPr/>
          <p:nvPr userDrawn="1"/>
        </p:nvGrpSpPr>
        <p:grpSpPr>
          <a:xfrm>
            <a:off x="0" y="-17462"/>
            <a:ext cx="1162050" cy="1065212"/>
            <a:chOff x="0" y="-17037"/>
            <a:chExt cx="5095525" cy="4666400"/>
          </a:xfrm>
        </p:grpSpPr>
        <p:sp>
          <p:nvSpPr>
            <p:cNvPr id="8" name="任意多边形 7"/>
            <p:cNvSpPr/>
            <p:nvPr/>
          </p:nvSpPr>
          <p:spPr>
            <a:xfrm>
              <a:off x="0" y="-17037"/>
              <a:ext cx="5095525" cy="4666400"/>
            </a:xfrm>
            <a:custGeom>
              <a:avLst/>
              <a:gdLst>
                <a:gd name="connsiteX0" fmla="*/ 0 w 5095525"/>
                <a:gd name="connsiteY0" fmla="*/ 0 h 4666400"/>
                <a:gd name="connsiteX1" fmla="*/ 5095525 w 5095525"/>
                <a:gd name="connsiteY1" fmla="*/ 0 h 4666400"/>
                <a:gd name="connsiteX2" fmla="*/ 2389013 w 5095525"/>
                <a:gd name="connsiteY2" fmla="*/ 4666400 h 4666400"/>
                <a:gd name="connsiteX3" fmla="*/ 0 w 5095525"/>
                <a:gd name="connsiteY3" fmla="*/ 547414 h 4666400"/>
                <a:gd name="connsiteX4" fmla="*/ 0 w 5095525"/>
                <a:gd name="connsiteY4" fmla="*/ 0 h 466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95525" h="4666400">
                  <a:moveTo>
                    <a:pt x="0" y="0"/>
                  </a:moveTo>
                  <a:lnTo>
                    <a:pt x="5095525" y="0"/>
                  </a:lnTo>
                  <a:lnTo>
                    <a:pt x="2389013" y="4666400"/>
                  </a:lnTo>
                  <a:lnTo>
                    <a:pt x="0" y="5474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C7C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等腰三角形 8"/>
            <p:cNvSpPr/>
            <p:nvPr/>
          </p:nvSpPr>
          <p:spPr>
            <a:xfrm flipV="1">
              <a:off x="996552" y="1764627"/>
              <a:ext cx="1518490" cy="1309043"/>
            </a:xfrm>
            <a:prstGeom prst="triangle">
              <a:avLst/>
            </a:prstGeom>
            <a:solidFill>
              <a:srgbClr val="166548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0" y="439770"/>
              <a:ext cx="2754101" cy="3300541"/>
            </a:xfrm>
            <a:custGeom>
              <a:avLst/>
              <a:gdLst>
                <a:gd name="connsiteX0" fmla="*/ 0 w 2754101"/>
                <a:gd name="connsiteY0" fmla="*/ 0 h 3300541"/>
                <a:gd name="connsiteX1" fmla="*/ 2754101 w 2754101"/>
                <a:gd name="connsiteY1" fmla="*/ 0 h 3300541"/>
                <a:gd name="connsiteX2" fmla="*/ 839788 w 2754101"/>
                <a:gd name="connsiteY2" fmla="*/ 3300541 h 3300541"/>
                <a:gd name="connsiteX3" fmla="*/ 0 w 2754101"/>
                <a:gd name="connsiteY3" fmla="*/ 1852631 h 3300541"/>
                <a:gd name="connsiteX4" fmla="*/ 0 w 2754101"/>
                <a:gd name="connsiteY4" fmla="*/ 0 h 3300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4101" h="3300541">
                  <a:moveTo>
                    <a:pt x="0" y="0"/>
                  </a:moveTo>
                  <a:lnTo>
                    <a:pt x="2754101" y="0"/>
                  </a:lnTo>
                  <a:lnTo>
                    <a:pt x="839788" y="3300541"/>
                  </a:lnTo>
                  <a:lnTo>
                    <a:pt x="0" y="18526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6548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8D2A4B-6B55-4738-B7E3-8F0F6C09A17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8D2A4B-6B55-4738-B7E3-8F0F6C09A17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Arial" panose="020B0604020202020204" pitchFamily="34" charset="0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Arial" panose="020B0604020202020204" pitchFamily="34" charset="0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8D2A4B-6B55-4738-B7E3-8F0F6C09A17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Arial" panose="020B0604020202020204" pitchFamily="34" charset="0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Arial" panose="020B0604020202020204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Arial" panose="020B0604020202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.xml"/><Relationship Id="rId4" Type="http://schemas.openxmlformats.org/officeDocument/2006/relationships/image" Target="../media/image9.png"/><Relationship Id="rId3" Type="http://schemas.openxmlformats.org/officeDocument/2006/relationships/tags" Target="../tags/tag7.xml"/><Relationship Id="rId2" Type="http://schemas.openxmlformats.org/officeDocument/2006/relationships/image" Target="../media/image8.png"/><Relationship Id="rId1" Type="http://schemas.openxmlformats.org/officeDocument/2006/relationships/tags" Target="../tags/tag6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9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1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tags" Target="../tags/tag10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13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tags" Target="../tags/tag12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14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16.xml"/><Relationship Id="rId3" Type="http://schemas.openxmlformats.org/officeDocument/2006/relationships/image" Target="../media/image19.png"/><Relationship Id="rId2" Type="http://schemas.openxmlformats.org/officeDocument/2006/relationships/tags" Target="../tags/tag15.xml"/><Relationship Id="rId1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17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19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tags" Target="../tags/tag18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20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21176" y="2153603"/>
            <a:ext cx="10120572" cy="2387600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66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LIGHTWEIGHT CLOAKING WALL MODEL FOR CLOUD DATA STORAGE WITH LEAKAGE CONTROL</a:t>
            </a:r>
            <a:endParaRPr lang="en-US" sz="2665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0" name="副标题 2"/>
          <p:cNvSpPr>
            <a:spLocks noGrp="1"/>
          </p:cNvSpPr>
          <p:nvPr>
            <p:ph type="subTitle" idx="1"/>
          </p:nvPr>
        </p:nvSpPr>
        <p:spPr>
          <a:xfrm>
            <a:off x="7820660" y="5053330"/>
            <a:ext cx="4189730" cy="1608455"/>
          </a:xfrm>
        </p:spPr>
        <p:txBody>
          <a:bodyPr wrap="square" lIns="91440" tIns="45720" rIns="91440" bIns="45720" anchor="t" anchorCtr="0"/>
          <a:lstStyle/>
          <a:p>
            <a:pPr algn="ctr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BY</a:t>
            </a:r>
            <a:endParaRPr lang="en-US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KARTHIKEYAN</a:t>
            </a: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II  MCA - 311422622024</a:t>
            </a:r>
            <a:endParaRPr lang="en-US" altLang="en-US" kern="1200" dirty="0">
              <a:solidFill>
                <a:schemeClr val="bg2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743835" y="598170"/>
            <a:ext cx="9610090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sz="3200" b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MEENAKSHI COLLEGE OF ENGINEERING</a:t>
            </a:r>
            <a:endParaRPr lang="en-US" sz="3200" b="1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2" descr="http://www.architecturelive.in/school_content/logos/797675337c80d9c4c4212cba0bd4324a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8" t="8022" r="-1168" b="9735"/>
          <a:stretch>
            <a:fillRect/>
          </a:stretch>
        </p:blipFill>
        <p:spPr bwMode="auto">
          <a:xfrm>
            <a:off x="650875" y="300990"/>
            <a:ext cx="1630680" cy="1341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Box 3"/>
          <p:cNvSpPr txBox="1"/>
          <p:nvPr/>
        </p:nvSpPr>
        <p:spPr>
          <a:xfrm>
            <a:off x="0" y="5234940"/>
            <a:ext cx="6096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GUIDE NAME </a:t>
            </a:r>
            <a:endParaRPr lang="en-US" sz="24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Mrs. V. SOMA SUNDARI  </a:t>
            </a:r>
            <a:endParaRPr lang="en-US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A.P / M.C.A DEPARTMENT </a:t>
            </a:r>
            <a:endParaRPr lang="en-US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48385" y="340360"/>
            <a:ext cx="10280650" cy="840105"/>
          </a:xfrm>
        </p:spPr>
        <p:txBody>
          <a:bodyPr anchor="ctr" anchorCtr="0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ABSTRACT</a:t>
            </a:r>
            <a:endParaRPr lang="en-US" sz="3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1132205" y="1447800"/>
            <a:ext cx="10024745" cy="4869180"/>
          </a:xfrm>
        </p:spPr>
        <p:txBody>
          <a:bodyPr/>
          <a:lstStyle/>
          <a:p>
            <a:pPr marL="342900" indent="-342900" algn="just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transforms organizational operations with on-demand resource access.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Cross-organization data sharing faces challenges requiring agreement on data processing.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concern in information security and cloud computing.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developing Cloaking Wall Model for cloud storage.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methods: Long-Term, Multi-Region, Time-based, and Geolocation-based Cloaking.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Cloaking identifies user types, ensuring content distribution to the right target.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Camouflage Data Disguise technique enhances security using Chaffing and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lnSpc>
                <a:spcPct val="90000"/>
              </a:lnSpc>
              <a:buFont typeface="Wingdings" panose="05000000000000000000" charset="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Winnowing with ChaCha20 encryption, distributing disguised data selectively.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5000000000000000000" charset="0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16230"/>
            <a:ext cx="10280650" cy="699770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OBJECTIVES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462405"/>
            <a:ext cx="10092055" cy="4809490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conceptualize the components of the Cloaking Wall Model.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Camouflage Techniques.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implement access control mechanisms.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leakage-suppressed techniques.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minimize the computational overhead associated with access control operations.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 the model’s effectiveness in terms of speed, security, and resource usage.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potential enhancements for better scalability and robustness.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 data cloaking methods to enhance security and privacy.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24485"/>
            <a:ext cx="10280650" cy="698500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COMPANY PROFILE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195705"/>
            <a:ext cx="10280650" cy="4893945"/>
          </a:xfrm>
        </p:spPr>
        <p:txBody>
          <a:bodyPr/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Nineteen Hour IT is ambitious and innovative, 21st century Telecom &amp; 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Software Services Company started by group of young.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Nineteen Hour IT was started with the aim of helping customers and business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to save their rising IT cost without impacting the quality. 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sz="180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Established in 2004 as Headquarter.</a:t>
            </a:r>
            <a:endParaRPr lang="en-US" sz="180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sz="180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Global Delivery Center in Patna, India </a:t>
            </a:r>
            <a:endParaRPr lang="en-US" sz="180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sz="180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state-of-the-art development center is equipped with latest technology. </a:t>
            </a:r>
            <a:endParaRPr lang="en-US" sz="180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sz="180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 deliver end-to-end solutions through valuable strategy development, </a:t>
            </a:r>
            <a:endParaRPr lang="en-US" sz="180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00000"/>
              </a:lnSpc>
              <a:buFont typeface="Wingdings" panose="05000000000000000000" charset="0"/>
            </a:pPr>
            <a:r>
              <a:rPr lang="en-US" sz="180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consulting services.</a:t>
            </a:r>
            <a:endParaRPr lang="en-US" sz="180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sz="180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Highly skilled engineering execution. 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96850"/>
            <a:ext cx="10280650" cy="902970"/>
          </a:xfrm>
        </p:spPr>
        <p:txBody>
          <a:bodyPr anchor="ctr" anchorCtr="0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SOFTWARE REQUIREMENTS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360" y="4294505"/>
            <a:ext cx="10280650" cy="1927860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Processors		                             :  Intel® Core™ i5 processor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Memory                                                          :  8 GB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DRAM Disk space	                              :  320 GB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1066800" y="3518535"/>
            <a:ext cx="10280650" cy="70675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+mj-cs"/>
              </a:defRPr>
            </a:lvl1pPr>
          </a:lstStyle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HARDWARE REQUIREMENTS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139825" y="1189355"/>
            <a:ext cx="10370185" cy="22599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 Side	                                             :  Python 3.7.4(64-bit) or (32-bit)</a:t>
            </a:r>
            <a:endParaRPr lang="en-US" sz="1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 Side	                                             :  HTML, CSS, Bootstrap</a:t>
            </a:r>
            <a:endParaRPr lang="en-US" sz="1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			                             :  Flask 1.1.1</a:t>
            </a:r>
            <a:endParaRPr lang="en-US" sz="1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 end	                                             :  MySQL 5</a:t>
            </a:r>
            <a:endParaRPr lang="en-US" sz="1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		                             : </a:t>
            </a:r>
            <a:r>
              <a:rPr lang="en-US" sz="18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Wampserver</a:t>
            </a:r>
            <a:r>
              <a:rPr 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2i</a:t>
            </a:r>
            <a:endParaRPr lang="en-US" sz="1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Operating systems	                             : Windows® 10, macOS*, and Linux*</a:t>
            </a:r>
            <a:endParaRPr lang="en-US" sz="1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03530"/>
            <a:ext cx="10280650" cy="1035050"/>
          </a:xfrm>
        </p:spPr>
        <p:txBody>
          <a:bodyPr anchor="ctr" anchorCtr="0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INTRODUCTION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338580"/>
            <a:ext cx="10280650" cy="5073650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cloud computing, where seamless accessibility coexists with concerns about data protection.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Cloaking Wall introduces a robust protective barrier.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methodology is designed to safeguard sensitive information stored in the cloud by concealing access patterns. 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Fortifying the mechanisms governing data interactions.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methods contributes a unique layer of defense, collectively establishing a fortified shield around cloud-stored data.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Camouflage Data Disguise technique represents an advanced cryptographic approach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That seamlessly integrates Chaffing and Winnowing with the formidable ChaCha20 encryption algorithm.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84455"/>
            <a:ext cx="10280650" cy="591820"/>
          </a:xfrm>
        </p:spPr>
        <p:txBody>
          <a:bodyPr anchor="ctr" anchorCtr="0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LITERATURE SURVEY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/>
          <p:nvPr>
            <p:custDataLst>
              <p:tags r:id="rId1"/>
            </p:custDataLst>
          </p:nvPr>
        </p:nvGraphicFramePr>
        <p:xfrm>
          <a:off x="492760" y="676275"/>
          <a:ext cx="10967085" cy="556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4230"/>
                <a:gridCol w="2507615"/>
                <a:gridCol w="5095240"/>
              </a:tblGrid>
              <a:tr h="5905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</a:tr>
              <a:tr h="15093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Stargazer: Long-Term and Multiregional Measurement of Timing/Geolocation-Based Cloaking (2023)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Shota Fujii , Takayuki Sato , Sho Aoki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primary objective is to investigate and understand the characteristics of cloaking techniques, with a focus on geofencing and time-based cloaking.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8580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Marketing Data Security and Privacy Protection Based on Federated Gamma in Cloud Computing Environment (2023)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Caixia Zhang , Zijian Pan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data security and user privacy in cloud-based systems by proposing a novel approach that combines the logit link function with a longitudinal joint learning framework for the gamma regression model.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6046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 Data Storage and Sharing Techniques for Data Protection in Cloud Environments (2022)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Ishu Gupta, Ashutosh Kumar Singh, Chung-Nan Lee, Rajkumar Buyya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paper aims to conduct a comparative and systematic study, providing an in-depth analysis of leading techniques for secure data sharing and protection in cloud environments. 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84455"/>
            <a:ext cx="10280650" cy="591820"/>
          </a:xfrm>
        </p:spPr>
        <p:txBody>
          <a:bodyPr anchor="ctr" anchorCtr="0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LITERATURE SURVEY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/>
          <p:nvPr>
            <p:custDataLst>
              <p:tags r:id="rId1"/>
            </p:custDataLst>
          </p:nvPr>
        </p:nvGraphicFramePr>
        <p:xfrm>
          <a:off x="492760" y="676275"/>
          <a:ext cx="10967085" cy="556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4230"/>
                <a:gridCol w="2507615"/>
                <a:gridCol w="5095240"/>
              </a:tblGrid>
              <a:tr h="5905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</a:tr>
              <a:tr h="15093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 and Privacy Aspects of Cloud Computing: A Smart Campus Case Study (2021)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Sajid Habib Gill , Mirza Abdur Razzaq , Muneer Ahmad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primary objective is to conduct a detailed analysis of privacy and security challenges in cloud computing, with a specific emphasis on a case study set in a smart campus scenario. 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8580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Multi-class Privacy-Preserving Cloud Computing Based on Compressive Sensing for IoT (2021)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Gajraj Kuldeep, Qi Zhang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multi-level data privacy in IoT applications by designing a Multi-class Privacy-Preserving Cloud Computing (MPCC) scheme. 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6046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:An Integrated Knowledge Graph to Automate Cloud Data Compliance (2020)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Karuna Pande Joshi, Lavanya Elluri, Ankur Nagar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data protection concerns by developing an integrated, semantically rich knowledge graph that captures various data compliance regulations related to cloud data. 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>
                    <a:lnL w="38100">
                      <a:solidFill>
                        <a:schemeClr val="tx1"/>
                      </a:solidFill>
                      <a:prstDash val="solid"/>
                    </a:lnL>
                    <a:lnR w="38100">
                      <a:solidFill>
                        <a:schemeClr val="tx1"/>
                      </a:solidFill>
                      <a:prstDash val="solid"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36550"/>
            <a:ext cx="10280650" cy="786765"/>
          </a:xfrm>
        </p:spPr>
        <p:txBody>
          <a:bodyPr anchor="ctr" anchorCtr="0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EXISTING SYSTEM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123950"/>
            <a:ext cx="10280650" cy="4965700"/>
          </a:xfrm>
        </p:spPr>
        <p:txBody>
          <a:bodyPr/>
          <a:lstStyle/>
          <a:p>
            <a:pPr>
              <a:lnSpc>
                <a:spcPct val="110000"/>
              </a:lnSpc>
              <a:buFont typeface="Wingdings" panose="05000000000000000000" charset="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Techniques: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Utilization of encryption algorithms to protect data in transit and at rest.</a:t>
            </a:r>
            <a:endParaRPr lang="en-US" sz="1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40000"/>
              </a:lnSpc>
              <a:buFont typeface="Wingdings" panose="05000000000000000000" charset="0"/>
              <a:buChar char="Ø"/>
            </a:pPr>
            <a:r>
              <a:rPr 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encryption methods include AES (Advanced Encryption Standard) and RSA (Rivest-Shamir-Adleman).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Controls and Identity Management: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access control mechanisms to regulate user permissions.</a:t>
            </a:r>
            <a:endParaRPr lang="en-US" sz="1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40000"/>
              </a:lnSpc>
              <a:buFont typeface="Wingdings" panose="05000000000000000000" charset="0"/>
              <a:buChar char="Ø"/>
            </a:pPr>
            <a:r>
              <a:rPr 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Identity and access management solutions ensure only authorized users have access to sensitive data.</a:t>
            </a:r>
            <a:endParaRPr lang="en-US" sz="1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buFont typeface="Wingdings" panose="05000000000000000000" charset="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Intrusion Detection and Prevention Systems (IDPS):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Utilization of IDPS to detect and respond to potential security threats.</a:t>
            </a:r>
            <a:endParaRPr lang="en-US" sz="1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40000"/>
              </a:lnSpc>
              <a:buFont typeface="Wingdings" panose="05000000000000000000" charset="0"/>
              <a:buChar char="Ø"/>
            </a:pPr>
            <a:r>
              <a:rPr 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Helps in real-time monitoring and protection against malicious activities.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buFont typeface="Wingdings" panose="05000000000000000000" charset="0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422910"/>
            <a:ext cx="10280650" cy="1024890"/>
          </a:xfrm>
        </p:spPr>
        <p:txBody>
          <a:bodyPr anchor="ctr" anchorCtr="0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DISADVANTAGES OF EXISTING SYSTEM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604645"/>
            <a:ext cx="10280650" cy="4575175"/>
          </a:xfrm>
        </p:spPr>
        <p:txBody>
          <a:bodyPr/>
          <a:lstStyle/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complexity may impact system performance.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authentication methods may be vulnerable to attacks.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Relying on cloud providers' security exposes risks.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Human-related risks persist despite security training.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Firewalls may not cover all sophisticated attack vectors.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7275" y="187325"/>
            <a:ext cx="10280650" cy="778510"/>
          </a:xfrm>
        </p:spPr>
        <p:txBody>
          <a:bodyPr anchor="ctr" anchorCtr="0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PROPOSED SYSTEM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7275" y="858520"/>
            <a:ext cx="10280650" cy="5688965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Cloaking: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method focuses on providing extended protection for sensitive data over prolonged durations. 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involves concealing access patterns and data usage trends over an extended timeframe, ensuring persistent confidentiality.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buFont typeface="Wingdings" panose="05000000000000000000" charset="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Multi-Region Based Cloaking: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Recognizing the global nature of cloud services, multi-region-based cloaking.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Involves implementing security measures that transcend geographical boundaries.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0000"/>
              </a:lnSpc>
              <a:buFont typeface="Wingdings" panose="05000000000000000000" charset="0"/>
            </a:pPr>
            <a:r>
              <a:rPr lang="en-US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Time-Based Cloaking:</a:t>
            </a:r>
            <a:endParaRPr lang="en-US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Time-based cloaking introduces temporal restrictions on data access</a:t>
            </a:r>
            <a:endParaRPr lang="en-US" sz="1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800100" lvl="1" indent="-3429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Allowing organizations to define specific time windows during which data can be accessed.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buFont typeface="Wingdings" panose="05000000000000000000" charset="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Geolocation-Based Cloaking: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Geolocation-based cloaking involves tailoring data protection measures based on the geographical location of users. </a:t>
            </a:r>
            <a:endParaRPr lang="en-US" sz="1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algn="just">
              <a:lnSpc>
                <a:spcPct val="110000"/>
              </a:lnSpc>
              <a:buFont typeface="Wingdings" panose="05000000000000000000" pitchFamily="2" charset="2"/>
            </a:pP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7275" y="200660"/>
            <a:ext cx="10280650" cy="778510"/>
          </a:xfrm>
        </p:spPr>
        <p:txBody>
          <a:bodyPr anchor="ctr" anchorCtr="0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PROPOSED SYSTEM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7275" y="978535"/>
            <a:ext cx="10280650" cy="5362575"/>
          </a:xfrm>
        </p:spPr>
        <p:txBody>
          <a:bodyPr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Conditional Disguise: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Disguise data selectively based on specific conditions or user roles.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Camouflage Data Disguise Generator module, integrating Chaffing and Winnowing with the robust ChaCha20 encryption algorithm.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Chaffing and Camouflage Process: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Chaffing, which adds decoy or chaff data.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Camouflage, which further disguises non-compliant data through additional obfuscation techniques. 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0000"/>
              </a:lnSpc>
              <a:buFont typeface="Wingdings" panose="05000000000000000000" charset="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ChaCha20 Encryption: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Genuine, chaff, and camouflaged data undergo encryption using the ChaCha20 algorithm.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buFont typeface="Wingdings" panose="05000000000000000000" charset="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Winnowing Process: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At the recipient's end, the winnowing process disentangles the genuine data from the chaff and camouflage layers.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68935"/>
            <a:ext cx="10280650" cy="951865"/>
          </a:xfrm>
        </p:spPr>
        <p:txBody>
          <a:bodyPr anchor="ctr" anchorCtr="0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ADVANTAGES OF PROPOSED SYSTEM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582420"/>
            <a:ext cx="10280650" cy="4780915"/>
          </a:xfrm>
        </p:spPr>
        <p:txBody>
          <a:bodyPr/>
          <a:lstStyle/>
          <a:p>
            <a:pPr marL="342900" indent="-3429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advanced security measures for comprehensive data protection.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data confidentiality at rest, in transit, and during processing.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administrative workloads through efficient certificate management.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security through defined time windows for data access.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encryption standards.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ChaCha20 decryption algorithm, combined with the appropriate key, unveils the original, non-compliant data.</a:t>
            </a:r>
            <a:endParaRPr lang="en-US" sz="1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lvl="1" indent="-3429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sz="180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This is strategically designed to elevate the security and privacy of data.</a:t>
            </a:r>
            <a:endParaRPr lang="en-US" sz="1800" dirty="0">
              <a:solidFill>
                <a:schemeClr val="bg2">
                  <a:lumMod val="9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4865" y="1015365"/>
            <a:ext cx="4523105" cy="970915"/>
          </a:xfrm>
        </p:spPr>
        <p:txBody>
          <a:bodyPr anchor="ctr" anchorCtr="0"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            ARCHITECTURE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Canvas 71"/>
          <p:cNvGrpSpPr/>
          <p:nvPr/>
        </p:nvGrpSpPr>
        <p:grpSpPr>
          <a:xfrm>
            <a:off x="5276850" y="169545"/>
            <a:ext cx="6459855" cy="6518275"/>
            <a:chOff x="0" y="0"/>
            <a:chExt cx="5731510" cy="6810375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5731510" cy="681037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6063" y="2187254"/>
              <a:ext cx="1910504" cy="1157611"/>
            </a:xfrm>
            <a:prstGeom prst="rect">
              <a:avLst/>
            </a:prstGeom>
          </p:spPr>
        </p:pic>
        <p:sp>
          <p:nvSpPr>
            <p:cNvPr id="7" name="Rectangular Callout 7"/>
            <p:cNvSpPr/>
            <p:nvPr/>
          </p:nvSpPr>
          <p:spPr>
            <a:xfrm>
              <a:off x="3695700" y="581025"/>
              <a:ext cx="1857375" cy="1581150"/>
            </a:xfrm>
            <a:prstGeom prst="wedgeRectCallout">
              <a:avLst>
                <a:gd name="adj1" fmla="val -78269"/>
                <a:gd name="adj2" fmla="val 17319"/>
              </a:avLst>
            </a:prstGeom>
            <a:noFill/>
            <a:ln w="254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IN" sz="110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  <a:endParaRPr lang="en-IN" sz="110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" name="Elbow Connector 8"/>
            <p:cNvCxnSpPr>
              <a:stCxn id="28" idx="0"/>
            </p:cNvCxnSpPr>
            <p:nvPr/>
          </p:nvCxnSpPr>
          <p:spPr>
            <a:xfrm rot="16200000" flipH="1">
              <a:off x="949420" y="311246"/>
              <a:ext cx="1869225" cy="2175533"/>
            </a:xfrm>
            <a:prstGeom prst="bentConnector4">
              <a:avLst>
                <a:gd name="adj1" fmla="val -12230"/>
                <a:gd name="adj2" fmla="val 73795"/>
              </a:avLst>
            </a:prstGeom>
            <a:noFill/>
            <a:ln w="25400">
              <a:solidFill>
                <a:srgbClr val="00B0F0"/>
              </a:solidFill>
              <a:prstDash val="dash"/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3038475" y="4698182"/>
              <a:ext cx="2625090" cy="2030462"/>
            </a:xfrm>
            <a:prstGeom prst="rect">
              <a:avLst/>
            </a:prstGeom>
            <a:solidFill>
              <a:srgbClr val="FF0000">
                <a:alpha val="21000"/>
              </a:srgbClr>
            </a:solidFill>
            <a:ln w="25400">
              <a:solidFill>
                <a:srgbClr val="FF0000"/>
              </a:solidFill>
              <a:miter lim="800000"/>
            </a:ln>
            <a:effectLst/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endParaRPr lang="en-IN"/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275250" y="3400818"/>
              <a:ext cx="2629876" cy="2323546"/>
            </a:xfrm>
            <a:prstGeom prst="rect">
              <a:avLst/>
            </a:prstGeom>
            <a:solidFill>
              <a:srgbClr val="00B0F0">
                <a:alpha val="20000"/>
              </a:srgbClr>
            </a:solidFill>
            <a:ln w="25400">
              <a:solidFill>
                <a:srgbClr val="00B0F0"/>
              </a:solidFill>
              <a:miter lim="800000"/>
            </a:ln>
            <a:effectLst/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endParaRPr lang="en-IN"/>
            </a:p>
          </p:txBody>
        </p:sp>
        <p:cxnSp>
          <p:nvCxnSpPr>
            <p:cNvPr id="11" name="Connector: Elbow 2"/>
            <p:cNvCxnSpPr>
              <a:cxnSpLocks noChangeShapeType="1"/>
              <a:endCxn id="6" idx="3"/>
            </p:cNvCxnSpPr>
            <p:nvPr/>
          </p:nvCxnSpPr>
          <p:spPr bwMode="auto">
            <a:xfrm rot="16200000" flipV="1">
              <a:off x="3026014" y="4016614"/>
              <a:ext cx="2872741" cy="371634"/>
            </a:xfrm>
            <a:prstGeom prst="bentConnector2">
              <a:avLst/>
            </a:prstGeom>
            <a:noFill/>
            <a:ln w="25400">
              <a:solidFill>
                <a:srgbClr val="00B0F0"/>
              </a:solidFill>
              <a:prstDash val="dash"/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pic>
          <p:nvPicPr>
            <p:cNvPr id="12" name="Picture 11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524" y="4628688"/>
              <a:ext cx="1828798" cy="10306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78597" y="5258520"/>
              <a:ext cx="1944998" cy="14265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4" name="Connector: Elbow 11"/>
            <p:cNvCxnSpPr>
              <a:cxnSpLocks noChangeShapeType="1"/>
              <a:endCxn id="6" idx="1"/>
            </p:cNvCxnSpPr>
            <p:nvPr/>
          </p:nvCxnSpPr>
          <p:spPr bwMode="auto">
            <a:xfrm rot="5400000" flipH="1" flipV="1">
              <a:off x="780126" y="3005114"/>
              <a:ext cx="1824991" cy="1346884"/>
            </a:xfrm>
            <a:prstGeom prst="bentConnector2">
              <a:avLst/>
            </a:prstGeom>
            <a:noFill/>
            <a:ln w="25400">
              <a:solidFill>
                <a:srgbClr val="00B0F0"/>
              </a:solidFill>
              <a:prstDash val="dash"/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Connector: Elbow 17"/>
            <p:cNvCxnSpPr>
              <a:cxnSpLocks noChangeShapeType="1"/>
            </p:cNvCxnSpPr>
            <p:nvPr/>
          </p:nvCxnSpPr>
          <p:spPr bwMode="auto">
            <a:xfrm rot="5400000">
              <a:off x="1833083" y="3566169"/>
              <a:ext cx="1428284" cy="963452"/>
            </a:xfrm>
            <a:prstGeom prst="bentConnector3">
              <a:avLst>
                <a:gd name="adj1" fmla="val 50000"/>
              </a:avLst>
            </a:prstGeom>
            <a:noFill/>
            <a:ln w="25400">
              <a:solidFill>
                <a:srgbClr val="92D050"/>
              </a:solidFill>
              <a:prstDash val="dash"/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" name="Text Box 21"/>
            <p:cNvSpPr txBox="1">
              <a:spLocks noChangeArrowheads="1"/>
            </p:cNvSpPr>
            <p:nvPr/>
          </p:nvSpPr>
          <p:spPr bwMode="auto">
            <a:xfrm>
              <a:off x="2433674" y="2314918"/>
              <a:ext cx="1965448" cy="257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 b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Enterprise Cloud Server</a:t>
              </a:r>
              <a:endParaRPr lang="en-IN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474345" y="4147139"/>
              <a:ext cx="1144554" cy="309430"/>
            </a:xfrm>
            <a:prstGeom prst="rect">
              <a:avLst/>
            </a:prstGeom>
            <a:solidFill>
              <a:srgbClr val="00B0F0"/>
            </a:solidFill>
            <a:ln w="25400">
              <a:solidFill>
                <a:srgbClr val="FFFFFF"/>
              </a:solidFill>
              <a:miter lim="800000"/>
            </a:ln>
            <a:effectLst>
              <a:outerShdw dist="38100" dir="2700000" algn="tl" rotWithShape="0">
                <a:srgbClr val="000000">
                  <a:alpha val="39999"/>
                </a:srgbClr>
              </a:outerShdw>
            </a:effec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Request File</a:t>
              </a:r>
              <a:endParaRPr lang="en-IN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1684119" y="4142939"/>
              <a:ext cx="1163504" cy="313630"/>
            </a:xfrm>
            <a:prstGeom prst="rect">
              <a:avLst/>
            </a:prstGeom>
            <a:solidFill>
              <a:srgbClr val="92D050"/>
            </a:solidFill>
            <a:ln w="25400">
              <a:solidFill>
                <a:srgbClr val="FFFFFF"/>
              </a:solidFill>
              <a:miter lim="800000"/>
            </a:ln>
            <a:effectLst>
              <a:outerShdw dist="38100" dir="2700000" algn="tl" rotWithShape="0">
                <a:srgbClr val="000000">
                  <a:alpha val="39999"/>
                </a:srgbClr>
              </a:outerShdw>
            </a:effec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Response File</a:t>
              </a:r>
              <a:endParaRPr lang="en-IN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" name="Connector: Elbow 27"/>
            <p:cNvCxnSpPr>
              <a:cxnSpLocks noChangeShapeType="1"/>
            </p:cNvCxnSpPr>
            <p:nvPr/>
          </p:nvCxnSpPr>
          <p:spPr bwMode="auto">
            <a:xfrm rot="16200000" flipH="1">
              <a:off x="2824960" y="4187034"/>
              <a:ext cx="2084385" cy="400049"/>
            </a:xfrm>
            <a:prstGeom prst="bentConnector3">
              <a:avLst>
                <a:gd name="adj1" fmla="val 50000"/>
              </a:avLst>
            </a:prstGeom>
            <a:noFill/>
            <a:ln w="25400">
              <a:solidFill>
                <a:srgbClr val="FF0000"/>
              </a:solidFill>
              <a:prstDash val="dash"/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1238598" y="3442515"/>
              <a:ext cx="1207900" cy="285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IN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Cloaking Area</a:t>
              </a:r>
              <a:endParaRPr lang="en-IN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3861998" y="1769144"/>
              <a:ext cx="1483999" cy="254142"/>
            </a:xfrm>
            <a:prstGeom prst="rect">
              <a:avLst/>
            </a:prstGeom>
            <a:solidFill>
              <a:srgbClr val="92D050"/>
            </a:solidFill>
            <a:ln w="25400">
              <a:solidFill>
                <a:srgbClr val="FFFFFF"/>
              </a:solidFill>
              <a:miter lim="800000"/>
            </a:ln>
            <a:effectLst>
              <a:outerShdw dist="38100" dir="2700000" algn="tl" rotWithShape="0">
                <a:srgbClr val="000000">
                  <a:alpha val="39999"/>
                </a:srgbClr>
              </a:outerShdw>
            </a:effec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IN" sz="1000" b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Time Based Cloaking</a:t>
              </a:r>
              <a:endParaRPr lang="en-IN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3861998" y="1493431"/>
              <a:ext cx="1483999" cy="234619"/>
            </a:xfrm>
            <a:prstGeom prst="rect">
              <a:avLst/>
            </a:prstGeom>
            <a:solidFill>
              <a:srgbClr val="92D050"/>
            </a:solidFill>
            <a:ln w="25400">
              <a:solidFill>
                <a:srgbClr val="FFFFFF"/>
              </a:solidFill>
              <a:miter lim="800000"/>
            </a:ln>
            <a:effectLst>
              <a:outerShdw dist="38100" dir="2700000" algn="tl" rotWithShape="0">
                <a:srgbClr val="000000">
                  <a:alpha val="39999"/>
                </a:srgbClr>
              </a:outerShdw>
            </a:effec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IN" sz="900" b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Location based Cloaking</a:t>
              </a:r>
              <a:endParaRPr lang="en-IN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3865323" y="1156218"/>
              <a:ext cx="1483999" cy="282549"/>
            </a:xfrm>
            <a:prstGeom prst="rect">
              <a:avLst/>
            </a:prstGeom>
            <a:solidFill>
              <a:srgbClr val="92D050"/>
            </a:solidFill>
            <a:ln w="25400">
              <a:solidFill>
                <a:srgbClr val="FFFFFF"/>
              </a:solidFill>
              <a:miter lim="800000"/>
            </a:ln>
            <a:effectLst>
              <a:outerShdw dist="38100" dir="2700000" algn="tl" rotWithShape="0">
                <a:srgbClr val="000000">
                  <a:alpha val="39999"/>
                </a:srgbClr>
              </a:outerShdw>
            </a:effec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IN" sz="1000" b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Region based Cloaking</a:t>
              </a:r>
              <a:endParaRPr lang="en-IN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3867698" y="819150"/>
              <a:ext cx="1483999" cy="272828"/>
            </a:xfrm>
            <a:prstGeom prst="rect">
              <a:avLst/>
            </a:prstGeom>
            <a:solidFill>
              <a:srgbClr val="92D050"/>
            </a:solidFill>
            <a:ln w="25400">
              <a:solidFill>
                <a:srgbClr val="FFFFFF"/>
              </a:solidFill>
              <a:miter lim="800000"/>
            </a:ln>
            <a:effectLst>
              <a:outerShdw dist="38100" dir="2700000" algn="tl" rotWithShape="0">
                <a:srgbClr val="000000">
                  <a:alpha val="39999"/>
                </a:srgbClr>
              </a:outerShdw>
            </a:effec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IN" sz="1000" b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Long Term Cloaking</a:t>
              </a:r>
              <a:endParaRPr lang="en-IN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3904134" y="418125"/>
              <a:ext cx="1413288" cy="309245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B0F0"/>
              </a:solidFill>
              <a:miter lim="800000"/>
            </a:ln>
            <a:effectLst/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06000"/>
                </a:lnSpc>
                <a:spcAft>
                  <a:spcPts val="800"/>
                </a:spcAft>
              </a:pPr>
              <a:r>
                <a:rPr lang="en-IN" sz="1000"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Cloaking Wall Model</a:t>
              </a:r>
              <a:endPara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3151347" y="4889160"/>
              <a:ext cx="1144270" cy="309245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rgbClr val="FFFFFF"/>
              </a:solidFill>
              <a:miter lim="800000"/>
            </a:ln>
            <a:effectLst>
              <a:outerShdw dist="38100" dir="2700000" algn="tl" rotWithShape="0">
                <a:srgbClr val="000000">
                  <a:alpha val="39999"/>
                </a:srgbClr>
              </a:outerShdw>
            </a:effec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06000"/>
                </a:lnSpc>
                <a:spcAft>
                  <a:spcPts val="800"/>
                </a:spcAft>
              </a:pPr>
              <a:r>
                <a:rPr lang="en-IN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Bogus File</a:t>
              </a:r>
              <a:endPara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7" name="Rectangle 26"/>
            <p:cNvSpPr>
              <a:spLocks noChangeArrowheads="1"/>
            </p:cNvSpPr>
            <p:nvPr/>
          </p:nvSpPr>
          <p:spPr bwMode="auto">
            <a:xfrm>
              <a:off x="4361022" y="4885350"/>
              <a:ext cx="1163320" cy="313055"/>
            </a:xfrm>
            <a:prstGeom prst="rect">
              <a:avLst/>
            </a:prstGeom>
            <a:solidFill>
              <a:srgbClr val="00B0F0"/>
            </a:solidFill>
            <a:ln w="25400">
              <a:solidFill>
                <a:schemeClr val="bg1"/>
              </a:solidFill>
              <a:miter lim="800000"/>
            </a:ln>
            <a:effectLst>
              <a:outerShdw dist="38100" dir="2700000" algn="tl" rotWithShape="0">
                <a:srgbClr val="000000">
                  <a:alpha val="39999"/>
                </a:srgbClr>
              </a:outerShdw>
            </a:effec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06000"/>
                </a:lnSpc>
                <a:spcAft>
                  <a:spcPts val="800"/>
                </a:spcAft>
              </a:pPr>
              <a:r>
                <a:rPr lang="en-IN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Request File</a:t>
              </a:r>
              <a:endPara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28" name="Picture 27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185" t="9621" r="7556" b="9256"/>
            <a:stretch>
              <a:fillRect/>
            </a:stretch>
          </p:blipFill>
          <p:spPr>
            <a:xfrm>
              <a:off x="275250" y="464400"/>
              <a:ext cx="1042034" cy="929720"/>
            </a:xfrm>
            <a:prstGeom prst="rect">
              <a:avLst/>
            </a:prstGeom>
          </p:spPr>
        </p:pic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1666524" y="1496695"/>
              <a:ext cx="1483995" cy="254000"/>
            </a:xfrm>
            <a:prstGeom prst="rect">
              <a:avLst/>
            </a:prstGeom>
            <a:solidFill>
              <a:srgbClr val="92D050"/>
            </a:solidFill>
            <a:ln w="25400">
              <a:solidFill>
                <a:srgbClr val="FFFFFF"/>
              </a:solidFill>
              <a:miter lim="800000"/>
            </a:ln>
            <a:effectLst>
              <a:outerShdw dist="38100" dir="2700000" algn="tl" rotWithShape="0">
                <a:srgbClr val="000000">
                  <a:alpha val="39999"/>
                </a:srgbClr>
              </a:outerShdw>
            </a:effec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06000"/>
                </a:lnSpc>
                <a:spcAft>
                  <a:spcPts val="800"/>
                </a:spcAft>
              </a:pPr>
              <a:r>
                <a:rPr lang="en-IN" sz="900" b="1"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Configure Cloaking Wall</a:t>
              </a:r>
              <a:endPara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0" name="Rectangle 29"/>
            <p:cNvSpPr>
              <a:spLocks noChangeArrowheads="1"/>
            </p:cNvSpPr>
            <p:nvPr/>
          </p:nvSpPr>
          <p:spPr bwMode="auto">
            <a:xfrm>
              <a:off x="1666524" y="1220470"/>
              <a:ext cx="1483995" cy="234315"/>
            </a:xfrm>
            <a:prstGeom prst="rect">
              <a:avLst/>
            </a:prstGeom>
            <a:solidFill>
              <a:srgbClr val="92D050"/>
            </a:solidFill>
            <a:ln w="25400">
              <a:solidFill>
                <a:srgbClr val="FFFFFF"/>
              </a:solidFill>
              <a:miter lim="800000"/>
            </a:ln>
            <a:effectLst>
              <a:outerShdw dist="38100" dir="2700000" algn="tl" rotWithShape="0">
                <a:srgbClr val="000000">
                  <a:alpha val="39999"/>
                </a:srgbClr>
              </a:outerShdw>
            </a:effec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06000"/>
                </a:lnSpc>
                <a:spcAft>
                  <a:spcPts val="800"/>
                </a:spcAft>
              </a:pPr>
              <a:r>
                <a:rPr lang="en-IN" sz="1000" b="1"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Add and Manage User</a:t>
              </a:r>
              <a:endPara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1670334" y="883285"/>
              <a:ext cx="1483995" cy="281940"/>
            </a:xfrm>
            <a:prstGeom prst="rect">
              <a:avLst/>
            </a:prstGeom>
            <a:solidFill>
              <a:srgbClr val="92D050"/>
            </a:solidFill>
            <a:ln w="25400">
              <a:solidFill>
                <a:srgbClr val="FFFFFF"/>
              </a:solidFill>
              <a:miter lim="800000"/>
            </a:ln>
            <a:effectLst>
              <a:outerShdw dist="38100" dir="2700000" algn="tl" rotWithShape="0">
                <a:srgbClr val="000000">
                  <a:alpha val="39999"/>
                </a:srgbClr>
              </a:outerShdw>
            </a:effec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06000"/>
                </a:lnSpc>
                <a:spcAft>
                  <a:spcPts val="800"/>
                </a:spcAft>
              </a:pPr>
              <a:r>
                <a:rPr lang="en-IN" sz="1000" b="1"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Upload Data</a:t>
              </a:r>
              <a:endPara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2" name="Rectangle 31"/>
            <p:cNvSpPr>
              <a:spLocks noChangeArrowheads="1"/>
            </p:cNvSpPr>
            <p:nvPr/>
          </p:nvSpPr>
          <p:spPr bwMode="auto">
            <a:xfrm>
              <a:off x="1672239" y="546735"/>
              <a:ext cx="1483995" cy="272415"/>
            </a:xfrm>
            <a:prstGeom prst="rect">
              <a:avLst/>
            </a:prstGeom>
            <a:solidFill>
              <a:srgbClr val="92D050"/>
            </a:solidFill>
            <a:ln w="25400">
              <a:solidFill>
                <a:srgbClr val="FFFFFF"/>
              </a:solidFill>
              <a:miter lim="800000"/>
            </a:ln>
            <a:effectLst>
              <a:outerShdw dist="38100" dir="2700000" algn="tl" rotWithShape="0">
                <a:srgbClr val="000000">
                  <a:alpha val="39999"/>
                </a:srgbClr>
              </a:outerShdw>
            </a:effec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06000"/>
                </a:lnSpc>
                <a:spcAft>
                  <a:spcPts val="800"/>
                </a:spcAft>
              </a:pPr>
              <a:r>
                <a:rPr lang="en-IN" sz="1000" b="1"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Login</a:t>
              </a:r>
              <a:endPara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3" name="Rectangle 32"/>
            <p:cNvSpPr>
              <a:spLocks noChangeArrowheads="1"/>
            </p:cNvSpPr>
            <p:nvPr/>
          </p:nvSpPr>
          <p:spPr bwMode="auto">
            <a:xfrm>
              <a:off x="1666524" y="1806575"/>
              <a:ext cx="1483995" cy="254000"/>
            </a:xfrm>
            <a:prstGeom prst="rect">
              <a:avLst/>
            </a:prstGeom>
            <a:solidFill>
              <a:srgbClr val="92D050"/>
            </a:solidFill>
            <a:ln w="25400">
              <a:solidFill>
                <a:srgbClr val="FFFFFF"/>
              </a:solidFill>
              <a:miter lim="800000"/>
            </a:ln>
            <a:effectLst>
              <a:outerShdw dist="38100" dir="2700000" algn="tl" rotWithShape="0">
                <a:srgbClr val="000000">
                  <a:alpha val="39999"/>
                </a:srgbClr>
              </a:outerShdw>
            </a:effec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en-IN" sz="1000" b="1"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Access Monitoring</a:t>
              </a:r>
              <a:endPara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4" name="Text Box 21"/>
            <p:cNvSpPr txBox="1">
              <a:spLocks noChangeArrowheads="1"/>
            </p:cNvSpPr>
            <p:nvPr/>
          </p:nvSpPr>
          <p:spPr bwMode="auto">
            <a:xfrm>
              <a:off x="481616" y="1442237"/>
              <a:ext cx="909034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06000"/>
                </a:lnSpc>
                <a:spcAft>
                  <a:spcPts val="800"/>
                </a:spcAft>
              </a:pPr>
              <a:r>
                <a:rPr lang="en-IN" sz="1000"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Data Owner</a:t>
              </a:r>
              <a:endPara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5" name="Text Box 21"/>
            <p:cNvSpPr txBox="1">
              <a:spLocks noChangeArrowheads="1"/>
            </p:cNvSpPr>
            <p:nvPr/>
          </p:nvSpPr>
          <p:spPr bwMode="auto">
            <a:xfrm>
              <a:off x="1894500" y="5467189"/>
              <a:ext cx="908685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en-IN" sz="1000"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Data User</a:t>
              </a:r>
              <a:endPara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6" name="Text Box 21"/>
            <p:cNvSpPr txBox="1">
              <a:spLocks noChangeArrowheads="1"/>
            </p:cNvSpPr>
            <p:nvPr/>
          </p:nvSpPr>
          <p:spPr bwMode="auto">
            <a:xfrm>
              <a:off x="4324351" y="6455483"/>
              <a:ext cx="1007109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en-IN" sz="1000"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Malicious User</a:t>
              </a:r>
              <a:endParaRPr lang="en-IN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60350"/>
            <a:ext cx="10280650" cy="560744"/>
          </a:xfrm>
        </p:spPr>
        <p:txBody>
          <a:bodyPr/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090" y="821055"/>
            <a:ext cx="9768205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60350"/>
            <a:ext cx="10280650" cy="959485"/>
          </a:xfrm>
        </p:spPr>
        <p:txBody>
          <a:bodyPr anchor="ctr" anchorCtr="0"/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USECASE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3325" y="1219835"/>
            <a:ext cx="7325995" cy="53943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14325"/>
            <a:ext cx="10280650" cy="1013460"/>
          </a:xfrm>
        </p:spPr>
        <p:txBody>
          <a:bodyPr anchor="ctr" anchorCtr="0"/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328420"/>
            <a:ext cx="10280650" cy="4761230"/>
          </a:xfrm>
        </p:spPr>
        <p:txBody>
          <a:bodyPr/>
          <a:lstStyle/>
          <a:p>
            <a:pPr marL="342900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Service Provider Web App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User Interface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Cloaking Wall Model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Policy Configurator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 Identification and Data Distribution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Disguise Data Generator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and Auditing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 and Notification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95580"/>
            <a:ext cx="10280650" cy="1099820"/>
          </a:xfrm>
        </p:spPr>
        <p:txBody>
          <a:bodyPr anchor="ctr" anchorCtr="0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SERVICE PROVIDER WEB APP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460500"/>
            <a:ext cx="10280650" cy="4855210"/>
          </a:xfrm>
        </p:spPr>
        <p:txBody>
          <a:bodyPr/>
          <a:lstStyle/>
          <a:p>
            <a:pPr marL="342900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design and development of a Cloud Consumer Web App using Python, Flask and MySQL and Bootstrap.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authentication module serves as the entry point, ensuring secure access through robust registration.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processes, including multi-factor authentication for enhanced security.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module, at the core of the application, seamlessly integrates the Cloaking Wall Model.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provides users with an intuitive interface for cloud resource management while ensuring global consistency in security measures.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95580"/>
            <a:ext cx="10280650" cy="694690"/>
          </a:xfrm>
        </p:spPr>
        <p:txBody>
          <a:bodyPr anchor="ctr" anchorCtr="0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USER INTERFACE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889635"/>
            <a:ext cx="10280650" cy="5617845"/>
          </a:xfrm>
        </p:spPr>
        <p:txBody>
          <a:bodyPr/>
          <a:lstStyle/>
          <a:p>
            <a:pPr>
              <a:lnSpc>
                <a:spcPct val="110000"/>
              </a:lnSpc>
              <a:buFont typeface="Wingdings" panose="05000000000000000000" charset="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or Data Owner Interface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 Module</a:t>
            </a:r>
            <a:endParaRPr lang="en-US" sz="21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login module provides a secure authentication process for Admins or Data Owners, ensuring only authorized access to the cloud management interface.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and Manage Data</a:t>
            </a:r>
            <a:endParaRPr lang="en-US" sz="21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Admins can add, organize, and manage data within the cloud storage.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and Manage Users</a:t>
            </a:r>
            <a:endParaRPr lang="en-US" sz="21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Admins have the capability to add new users to the system, defining their roles and permissions.</a:t>
            </a:r>
            <a:endParaRPr lang="en-US" sz="2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Provide Login Credentials to Users</a:t>
            </a:r>
            <a:endParaRPr lang="en-US" sz="24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This ensures a secure onboarding process for new users.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Set Access Policy using Cloaking Wall Model</a:t>
            </a:r>
            <a:endParaRPr lang="en-US" sz="24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Leveraging the Cloaking Wall Model, this module enables Admins to set access policies. </a:t>
            </a:r>
            <a:endParaRPr lang="en-US" sz="2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Monitoring Data Access</a:t>
            </a:r>
            <a:endParaRPr lang="en-US" sz="24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Admins can monitor and audit data access patterns using this module.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4740" y="1334135"/>
            <a:ext cx="10280650" cy="4909820"/>
          </a:xfrm>
        </p:spPr>
        <p:txBody>
          <a:bodyPr/>
          <a:lstStyle/>
          <a:p>
            <a:pPr algn="just">
              <a:lnSpc>
                <a:spcPct val="100000"/>
              </a:lnSpc>
              <a:buFont typeface="Wingdings" panose="05000000000000000000" charset="0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User Interface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Module</a:t>
            </a: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 to the Admin interface, the login module provides secure authentication for Data Users, ensuring that only authorized individuals can access the cloud resources.</a:t>
            </a:r>
            <a:endParaRPr lang="en-US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Data</a:t>
            </a: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Users can use this module to access the data allocated to them.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interface provides a user-friendly environment for retrieving, modifying, or analyzing data based on their permissions.</a:t>
            </a:r>
            <a:endParaRPr lang="en-US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Data Access</a:t>
            </a: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Users have limited access to monitoring tools to track their own data access.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module allows them to review their activity and ensures transparency in usage.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66800" y="195580"/>
            <a:ext cx="10280650" cy="923925"/>
          </a:xfrm>
        </p:spPr>
        <p:txBody>
          <a:bodyPr anchor="ctr" anchorCtr="0"/>
          <a:p>
            <a:pPr algn="ctr" font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USER INTERFACE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120775"/>
            <a:ext cx="10280650" cy="5212080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Cloaking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Long-Term Cloaking module ensures persistent confidentiality of data access patterns over extended durations.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charset="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Multi-Region Based Cloaking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module facilitates a unified security approach across diverse geographical regions.  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Measures globally 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addressing challenges related to multi-region data access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Time-Based Cloaking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Time-Based Cloaking empowers Admins to set temporal restrictions on data access.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Geolocation-Based Cloaking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Geolocation-Based Cloaking module tailor’s data protection based on user location.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Admins can define security policies that vary depending on the physical location of Data Users, adding a location-sensitive layer to access controls.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 typeface="Wingdings" panose="05000000000000000000" charset="0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66800" y="195580"/>
            <a:ext cx="10280650" cy="735330"/>
          </a:xfrm>
        </p:spPr>
        <p:txBody>
          <a:bodyPr anchor="ctr" anchorCtr="0"/>
          <a:p>
            <a:pPr algn="ctr" font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CLOAKING WALL MODULES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92682"/>
            <a:ext cx="10280650" cy="905510"/>
          </a:xfrm>
        </p:spPr>
        <p:txBody>
          <a:bodyPr anchor="ctr" anchorCtr="0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POLICY CONFIGURATOR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296670"/>
            <a:ext cx="10280650" cy="4912360"/>
          </a:xfrm>
        </p:spPr>
        <p:txBody>
          <a:bodyPr/>
          <a:lstStyle/>
          <a:p>
            <a:pPr marL="342900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Access Policy Configuration module is to define and customize access policies for the Cloud Consumer Web App.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plays a crucial role in tailoring the security measures based on four cloaking principles.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provides a centralized dashboard for administrators to configure comprehensive access policies.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can set parameters, thresholds, and exceptions to align with the security requirements of the organization.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95580"/>
            <a:ext cx="10280650" cy="906145"/>
          </a:xfrm>
        </p:spPr>
        <p:txBody>
          <a:bodyPr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BOT IDENTIFICATION AND DATA DISTRIBUTION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290320"/>
            <a:ext cx="10280650" cy="4799330"/>
          </a:xfrm>
        </p:spPr>
        <p:txBody>
          <a:bodyPr/>
          <a:lstStyle/>
          <a:p>
            <a:pPr marL="342900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Bot Identification Mechanism within the Cloaking Wall Model ensures that automated bots attempting to access the data.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in violation of access policies are promptly identified.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ensures that benign content is delivered to authentic users, while malicious content is selectively distributed to identified bots.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Adherence Assessment.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user, including potential bots, is assessed against the defined access policies.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Legitimate Data Users are expected to follow the specified four cloaking rules.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entity not adhering to these policies is flagged for further scrutiny.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27965"/>
            <a:ext cx="10280650" cy="981075"/>
          </a:xfrm>
        </p:spPr>
        <p:txBody>
          <a:bodyPr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DISGUISE DATA GENARATOR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331595"/>
            <a:ext cx="10280650" cy="4667250"/>
          </a:xfrm>
        </p:spPr>
        <p:txBody>
          <a:bodyPr/>
          <a:lstStyle/>
          <a:p>
            <a:pPr lvl="0" algn="just">
              <a:lnSpc>
                <a:spcPct val="110000"/>
              </a:lnSpc>
              <a:buFont typeface="Wingdings" panose="05000000000000000000" pitchFamily="2" charset="2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Chaffing and Camouflage Process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Chaffing, which adds decoy or chaff data, and Camouflage, which further disguises non-compliant data through additional obfuscation techniques. 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 typeface="Wingdings" panose="05000000000000000000" charset="0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ChaCha20 Encryption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Genuine, chaff, and camouflaged data undergo encryption using the ChaCha20 algorithm.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 typeface="Wingdings" panose="05000000000000000000" charset="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Winnowing Process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At the recipient's end, the winnowing process disentangles the genuine data from the chaff and camouflage layers.</a:t>
            </a:r>
            <a:endParaRPr lang="en-US" sz="1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ChaCha20 decryption algorithm, combined with the appropriate key, unveils the original, non-compliant data.</a:t>
            </a:r>
            <a:endParaRPr lang="en-US" sz="1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92735"/>
            <a:ext cx="10280650" cy="887095"/>
          </a:xfrm>
        </p:spPr>
        <p:txBody>
          <a:bodyPr anchor="ctr" anchorCtr="0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AND AUDITING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1570" y="1323340"/>
            <a:ext cx="10280650" cy="4900295"/>
          </a:xfrm>
        </p:spPr>
        <p:txBody>
          <a:bodyPr/>
          <a:lstStyle/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real-time, the module monitors and captures a spectrum of activities, including user interactions, data access, and system operations.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maintains a meticulous log of policy enforcement instances, detailing the invocation of access policies defined by the Cloaking Wall Model.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along with outcomes and responses to policy violations.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Furthermore, the module diligently tracks all data access and modification events.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providing insights into who accessed specific data and the nature of their interactions, aiding in forensic analysis.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454660"/>
            <a:ext cx="10280650" cy="884555"/>
          </a:xfrm>
        </p:spPr>
        <p:txBody>
          <a:bodyPr anchor="ctr" anchorCtr="0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 AND NOTIFICATIONS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453515"/>
            <a:ext cx="10280650" cy="4636135"/>
          </a:xfrm>
        </p:spPr>
        <p:txBody>
          <a:bodyPr/>
          <a:lstStyle/>
          <a:p>
            <a:pPr marL="342900" indent="-3429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Upon detection of a policy violation, the module triggers immediate alerts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swiftly notifying administrators through various channels such as email, SMS, in-app messages, or other preferred communication methods.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alerts are designed to provide administrators with detailed information about the nature of the policy violation.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Offering insights into unauthorized access attempts, data modifications beyond permitted levels.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Breaches of temporal and geolocation constraints.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proactive alerting mechanism minimizes the latency between the occurrence of a policy violation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notification to administrators, facilitating a rapid and targeted response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63600" y="357505"/>
            <a:ext cx="10280650" cy="933450"/>
          </a:xfrm>
        </p:spPr>
        <p:txBody>
          <a:bodyPr anchor="ctr" anchorCtr="0"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 CODE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066800" y="1560195"/>
            <a:ext cx="10280650" cy="4529455"/>
          </a:xfrm>
        </p:spPr>
        <p:txBody>
          <a:bodyPr/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# LOGIN FUNCTION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FUNCTION login():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IF request method is POST: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GET username and password from request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EXECUTE SQL query to check credentials in data_owner table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account exists: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SET session username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REDIRECT to upload page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ELSE: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SET message as 'Incorrect username/password!'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72085"/>
            <a:ext cx="10280650" cy="694690"/>
          </a:xfrm>
        </p:spPr>
        <p:txBody>
          <a:bodyPr anchor="ctr" anchorCtr="0"/>
          <a:p>
            <a:pPr algn="ctr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CONCLUSION</a:t>
            </a:r>
            <a:endParaRPr lang="en-US" sz="32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988695"/>
            <a:ext cx="10280650" cy="5519420"/>
          </a:xfrm>
        </p:spPr>
        <p:txBody>
          <a:bodyPr/>
          <a:p>
            <a:pPr marL="342900" indent="-342900" algn="just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 Conclusion, the project introduces a robust solution to enhance data security in cloud computing.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Cloaking Wall Model, with features like Long-Term Cloaking and Geolocation-based Cloaking.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That ensures persistent confidentiality and global consistency.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Camouflage Data Disguise technique, integrating Chaffing and Winnowing with ChaCha20 encryption, adds an extra layer of defense.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Cloud Consumer Web App's modular design caters to both administrators and users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Also offering secure functionalities like user authentication, data management, and monitoring.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project's testing phase, outlined in the test report, demonstrates a rigorous approach to quality assurance.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4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innovative Bot Identification Mechanism, coupled with the Disguise Data Generator module, adds an intelligent layer to the security framework. 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By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accurately identifying potential bot activity and simulating non-compliant data instances, the system actively responds to emerging threats.</a:t>
            </a:r>
            <a:endParaRPr lang="en-US"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10820"/>
            <a:ext cx="10280650" cy="843915"/>
          </a:xfrm>
        </p:spPr>
        <p:txBody>
          <a:bodyPr anchor="ctr" anchorCtr="0"/>
          <a:p>
            <a:pPr algn="ctr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FUTURE ENCHANCEMENT</a:t>
            </a:r>
            <a:endParaRPr lang="en-US" sz="32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054735"/>
            <a:ext cx="10280650" cy="5327650"/>
          </a:xfrm>
        </p:spPr>
        <p:txBody>
          <a:bodyPr/>
          <a:p>
            <a:pPr marL="342900" indent="-342900" algn="just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future evolution of the system holds exciting possibilities, with key areas of focus.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Integrating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machine learning algorithms stands out as a potential enhancement.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That enables dynamic analysis of access patterns to adeptly respond to evolving security threats.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Behavioral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analytics is another avenue, offering a nuanced understanding of user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behavior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distinguish normal activities from potential risks.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Additionally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exploring blockchain integration is on the horizon.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That aiming to enhance data integrity and transparency by leveraging the decentralized and tamper-resistant nature of blockchain technology.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These enhancements collectively propel the system towards a more adaptive, context-aware, and secure future.</a:t>
            </a:r>
            <a:endParaRPr lang="en-US" sz="1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20980" y="1045210"/>
            <a:ext cx="5715000" cy="3465576"/>
          </a:xfrm>
          <a:prstGeom prst="rect">
            <a:avLst/>
          </a:prstGeom>
          <a:ln w="25400">
            <a:solidFill>
              <a:srgbClr val="5228C8"/>
            </a:solidFill>
            <a:prstDash val="sysDash"/>
          </a:ln>
        </p:spPr>
      </p:pic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20980" y="4700270"/>
            <a:ext cx="5715635" cy="483870"/>
          </a:xfrm>
        </p:spPr>
        <p:txBody>
          <a:bodyPr/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1686560" y="285750"/>
            <a:ext cx="8663305" cy="759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3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SCREENS</a:t>
            </a:r>
            <a:endParaRPr lang="en-US" sz="3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144895" y="2581910"/>
            <a:ext cx="5711190" cy="3469640"/>
          </a:xfrm>
          <a:prstGeom prst="rect">
            <a:avLst/>
          </a:prstGeom>
          <a:ln w="25400">
            <a:solidFill>
              <a:srgbClr val="5228C8"/>
            </a:solidFill>
            <a:prstDash val="sysDash"/>
          </a:ln>
        </p:spPr>
      </p:pic>
      <p:sp>
        <p:nvSpPr>
          <p:cNvPr id="7" name="Text Placeholder 3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145530" y="6213475"/>
            <a:ext cx="5796915" cy="48387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DATA OWNER REGISTRATION PAGE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" y="4665345"/>
            <a:ext cx="5715000" cy="575310"/>
          </a:xfrm>
        </p:spPr>
        <p:txBody>
          <a:bodyPr/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ADMIN LOGIN PAGE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dmin"/>
          <p:cNvPicPr/>
          <p:nvPr/>
        </p:nvPicPr>
        <p:blipFill>
          <a:blip r:embed="rId1"/>
          <a:stretch>
            <a:fillRect/>
          </a:stretch>
        </p:blipFill>
        <p:spPr>
          <a:xfrm>
            <a:off x="346710" y="1049020"/>
            <a:ext cx="5715000" cy="3465576"/>
          </a:xfrm>
          <a:prstGeom prst="rect">
            <a:avLst/>
          </a:prstGeom>
        </p:spPr>
      </p:pic>
      <p:pic>
        <p:nvPicPr>
          <p:cNvPr id="4" name="Picture 3" descr="admin data approvel"/>
          <p:cNvPicPr/>
          <p:nvPr/>
        </p:nvPicPr>
        <p:blipFill>
          <a:blip r:embed="rId2"/>
          <a:stretch>
            <a:fillRect/>
          </a:stretch>
        </p:blipFill>
        <p:spPr>
          <a:xfrm>
            <a:off x="6235700" y="2632075"/>
            <a:ext cx="5715000" cy="3465576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195695" y="6198870"/>
            <a:ext cx="5715000" cy="57531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+mj-cs"/>
              </a:defRPr>
            </a:lvl1pPr>
          </a:lstStyle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DATA OWNER DETAILS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580" y="4542790"/>
            <a:ext cx="5715635" cy="682625"/>
          </a:xfrm>
        </p:spPr>
        <p:txBody>
          <a:bodyPr/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DATA OWNER LOGIN PAGE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96215" y="927100"/>
            <a:ext cx="5715000" cy="3465576"/>
          </a:xfrm>
          <a:prstGeom prst="rect">
            <a:avLst/>
          </a:prstGeom>
          <a:ln w="25400">
            <a:solidFill>
              <a:srgbClr val="5228C8"/>
            </a:solidFill>
            <a:prstDash val="sysDash"/>
          </a:ln>
        </p:spPr>
      </p:pic>
      <p:pic>
        <p:nvPicPr>
          <p:cNvPr id="3" name="Picture 2" descr="data owner create account"/>
          <p:cNvPicPr/>
          <p:nvPr/>
        </p:nvPicPr>
        <p:blipFill>
          <a:blip r:embed="rId3"/>
          <a:stretch>
            <a:fillRect/>
          </a:stretch>
        </p:blipFill>
        <p:spPr>
          <a:xfrm>
            <a:off x="6124575" y="2442210"/>
            <a:ext cx="5715000" cy="3465576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124575" y="5975985"/>
            <a:ext cx="5715635" cy="6826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+mj-cs"/>
              </a:defRPr>
            </a:lvl1pPr>
          </a:lstStyle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CREATE ACCOUNT (DATA USER)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6810" y="6031865"/>
            <a:ext cx="5715000" cy="615315"/>
          </a:xfrm>
        </p:spPr>
        <p:txBody>
          <a:bodyPr/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FILE UPLOAD (DATA OWNER)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Picture 1"/>
          <p:cNvSpPr/>
          <p:nvPr>
            <p:custDataLst>
              <p:tags r:id="rId1"/>
            </p:custDataLst>
          </p:nvPr>
        </p:nvSpPr>
        <p:spPr>
          <a:xfrm>
            <a:off x="7686040" y="2243572"/>
            <a:ext cx="5402580" cy="3038876"/>
          </a:xfrm>
        </p:spPr>
      </p:sp>
      <p:pic>
        <p:nvPicPr>
          <p:cNvPr id="7" name="Picture 6" descr="data user details from data owner"/>
          <p:cNvPicPr/>
          <p:nvPr/>
        </p:nvPicPr>
        <p:blipFill>
          <a:blip r:embed="rId2"/>
          <a:stretch>
            <a:fillRect/>
          </a:stretch>
        </p:blipFill>
        <p:spPr>
          <a:xfrm>
            <a:off x="308610" y="850265"/>
            <a:ext cx="5715000" cy="3465576"/>
          </a:xfrm>
          <a:prstGeom prst="rect">
            <a:avLst/>
          </a:prstGeom>
        </p:spPr>
      </p:pic>
      <p:pic>
        <p:nvPicPr>
          <p:cNvPr id="8" name="Picture 7" descr="file upload from file upload"/>
          <p:cNvPicPr/>
          <p:nvPr/>
        </p:nvPicPr>
        <p:blipFill>
          <a:blip r:embed="rId3"/>
          <a:stretch>
            <a:fillRect/>
          </a:stretch>
        </p:blipFill>
        <p:spPr>
          <a:xfrm>
            <a:off x="6226810" y="2463800"/>
            <a:ext cx="5715000" cy="3465576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08610" y="4461510"/>
            <a:ext cx="5715000" cy="61531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+mj-cs"/>
              </a:defRPr>
            </a:lvl1pPr>
          </a:lstStyle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DATA USER DETAILS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205" y="4439285"/>
            <a:ext cx="5715000" cy="612140"/>
          </a:xfrm>
        </p:spPr>
        <p:txBody>
          <a:bodyPr/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SHARE FILES (LONG TERM CLOAKING)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long term cloaking"/>
          <p:cNvPicPr/>
          <p:nvPr/>
        </p:nvPicPr>
        <p:blipFill>
          <a:blip r:embed="rId1"/>
          <a:stretch>
            <a:fillRect/>
          </a:stretch>
        </p:blipFill>
        <p:spPr>
          <a:xfrm>
            <a:off x="243205" y="862330"/>
            <a:ext cx="5715000" cy="3465576"/>
          </a:xfrm>
          <a:prstGeom prst="rect">
            <a:avLst/>
          </a:prstGeom>
        </p:spPr>
      </p:pic>
      <p:pic>
        <p:nvPicPr>
          <p:cNvPr id="4" name="Picture 3" descr="time based"/>
          <p:cNvPicPr/>
          <p:nvPr/>
        </p:nvPicPr>
        <p:blipFill>
          <a:blip r:embed="rId2"/>
          <a:stretch>
            <a:fillRect/>
          </a:stretch>
        </p:blipFill>
        <p:spPr>
          <a:xfrm>
            <a:off x="6176010" y="2541905"/>
            <a:ext cx="5715000" cy="3465576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149340" y="6092190"/>
            <a:ext cx="5715000" cy="61214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+mj-cs"/>
              </a:defRPr>
            </a:lvl1pPr>
          </a:lstStyle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SHARE FILES (TIME BASED CLOAKING)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865" y="4429760"/>
            <a:ext cx="5714365" cy="551180"/>
          </a:xfrm>
        </p:spPr>
        <p:txBody>
          <a:bodyPr/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SHARED FILES (GEO LOCATION BASED)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geo location"/>
          <p:cNvPicPr/>
          <p:nvPr/>
        </p:nvPicPr>
        <p:blipFill>
          <a:blip r:embed="rId1"/>
          <a:stretch>
            <a:fillRect/>
          </a:stretch>
        </p:blipFill>
        <p:spPr>
          <a:xfrm>
            <a:off x="189865" y="805815"/>
            <a:ext cx="5715000" cy="3465576"/>
          </a:xfrm>
          <a:prstGeom prst="rect">
            <a:avLst/>
          </a:prstGeom>
        </p:spPr>
      </p:pic>
      <p:pic>
        <p:nvPicPr>
          <p:cNvPr id="8" name="Picture 7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149340" y="2602230"/>
            <a:ext cx="5806440" cy="3465576"/>
          </a:xfrm>
          <a:prstGeom prst="rect">
            <a:avLst/>
          </a:prstGeom>
          <a:ln w="25400">
            <a:solidFill>
              <a:srgbClr val="5228C8"/>
            </a:solidFill>
            <a:prstDash val="sysDash"/>
          </a:ln>
        </p:spPr>
      </p:pic>
      <p:sp>
        <p:nvSpPr>
          <p:cNvPr id="4" name="Title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149340" y="6200775"/>
            <a:ext cx="5805805" cy="55118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+mj-cs"/>
              </a:defRPr>
            </a:lvl1pPr>
          </a:lstStyle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ADDING GEO LOCATION 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355" y="4669790"/>
            <a:ext cx="5715000" cy="643255"/>
          </a:xfrm>
        </p:spPr>
        <p:txBody>
          <a:bodyPr/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SHARED FILES (MULTI REGION BASED)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data user"/>
          <p:cNvPicPr/>
          <p:nvPr/>
        </p:nvPicPr>
        <p:blipFill>
          <a:blip r:embed="rId1"/>
          <a:stretch>
            <a:fillRect/>
          </a:stretch>
        </p:blipFill>
        <p:spPr>
          <a:xfrm>
            <a:off x="6256020" y="2441575"/>
            <a:ext cx="5715000" cy="3465576"/>
          </a:xfrm>
          <a:prstGeom prst="rect">
            <a:avLst/>
          </a:prstGeom>
        </p:spPr>
      </p:pic>
      <p:pic>
        <p:nvPicPr>
          <p:cNvPr id="5" name="Picture 4" descr="multi region based"/>
          <p:cNvPicPr/>
          <p:nvPr/>
        </p:nvPicPr>
        <p:blipFill>
          <a:blip r:embed="rId2"/>
          <a:stretch>
            <a:fillRect/>
          </a:stretch>
        </p:blipFill>
        <p:spPr>
          <a:xfrm>
            <a:off x="300355" y="1053465"/>
            <a:ext cx="5715000" cy="3465576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256020" y="6039485"/>
            <a:ext cx="5715000" cy="64325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+mj-cs"/>
              </a:defRPr>
            </a:lvl1pPr>
          </a:lstStyle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DATA USER LOGIN PAGE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315" y="4608195"/>
            <a:ext cx="5714365" cy="665480"/>
          </a:xfrm>
        </p:spPr>
        <p:txBody>
          <a:bodyPr/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SHARED FILES (DATA USER)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shared files from data user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34315" y="1009015"/>
            <a:ext cx="5715000" cy="3465576"/>
          </a:xfrm>
          <a:prstGeom prst="rect">
            <a:avLst/>
          </a:prstGeom>
        </p:spPr>
      </p:pic>
      <p:pic>
        <p:nvPicPr>
          <p:cNvPr id="3" name="Picture 2" descr="malicious content"/>
          <p:cNvPicPr/>
          <p:nvPr/>
        </p:nvPicPr>
        <p:blipFill>
          <a:blip r:embed="rId3"/>
          <a:stretch>
            <a:fillRect/>
          </a:stretch>
        </p:blipFill>
        <p:spPr>
          <a:xfrm>
            <a:off x="6286500" y="2491740"/>
            <a:ext cx="5715000" cy="3465576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286500" y="6112510"/>
            <a:ext cx="5714365" cy="55753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+mj-cs"/>
              </a:defRPr>
            </a:lvl1pPr>
          </a:lstStyle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MALICIOUS CONTENT (DATA USER)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915" y="4461510"/>
            <a:ext cx="5715000" cy="718185"/>
          </a:xfrm>
        </p:spPr>
        <p:txBody>
          <a:bodyPr/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PAYMENT PAGE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payment page 1"/>
          <p:cNvPicPr/>
          <p:nvPr/>
        </p:nvPicPr>
        <p:blipFill>
          <a:blip r:embed="rId1"/>
          <a:stretch>
            <a:fillRect/>
          </a:stretch>
        </p:blipFill>
        <p:spPr>
          <a:xfrm>
            <a:off x="208915" y="910590"/>
            <a:ext cx="5715000" cy="3465576"/>
          </a:xfrm>
          <a:prstGeom prst="rect">
            <a:avLst/>
          </a:prstGeom>
        </p:spPr>
      </p:pic>
      <p:pic>
        <p:nvPicPr>
          <p:cNvPr id="5" name="Picture 4" descr="payment 2"/>
          <p:cNvPicPr/>
          <p:nvPr/>
        </p:nvPicPr>
        <p:blipFill>
          <a:blip r:embed="rId2"/>
          <a:stretch>
            <a:fillRect/>
          </a:stretch>
        </p:blipFill>
        <p:spPr>
          <a:xfrm>
            <a:off x="6191885" y="2465705"/>
            <a:ext cx="5715000" cy="3465576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191885" y="6019165"/>
            <a:ext cx="5715000" cy="71818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+mj-cs"/>
              </a:defRPr>
            </a:lvl1pPr>
          </a:lstStyle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PAYMENT PAGE ( UPI PAGE )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19710"/>
            <a:ext cx="10280650" cy="784860"/>
          </a:xfrm>
        </p:spPr>
        <p:txBody>
          <a:bodyPr anchor="ctr" anchorCtr="0"/>
          <a:p>
            <a:pPr algn="ctr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REFERENCES</a:t>
            </a:r>
            <a:endParaRPr lang="en-US" sz="32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204595"/>
            <a:ext cx="10280650" cy="5192395"/>
          </a:xfrm>
        </p:spPr>
        <p:txBody>
          <a:bodyPr anchor="ctr" anchorCtr="0"/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Alowaisheq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P. Wang, S.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Alrwais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X. Liao, X. Wang, T.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Alowaisheq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X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S. Tang, and B. Liu, ‘‘Cracking the wall of confinement: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Understanding and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analyzing malicious domain take-downs,’’ in Proc.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Netw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Distrib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Syst.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Secur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Symp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., 2019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G. Zhang, X. Chen, B. Feng, X.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Guo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X.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Hao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H. Ren, C. Dong,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and 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Zhang, ‘‘BCST-APTS: Blockchain and CP-ABE empowered data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supervision, sharing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and privacy protection scheme for secure and trusted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agricultural product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traceability system,’’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Secur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Commun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Netw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., vol.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2022, pp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1–11, Jan. 2022,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 10.1155/2022/2958963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Zagan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and M.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Danubianu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‘‘ADLS Gen 2 for web server log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 analysis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,’’ in Proc. Int. Conf. Develop. Appl. Syst. (DAS),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Suceava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Romania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2022, pp. 161–166,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 10.1109/DAS54948.2022.9786071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4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Y. J. Wang, C. T. Cao, and L. You, ‘‘A novel personal privacy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 protection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scheme based on blockchain and attribute-based encryption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,’’ J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Cryptol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Res., vol. 8, no. 1, pp. 14–27, 2021,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10.13868/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j.cnki.jcr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000416.</a:t>
            </a:r>
            <a:endParaRPr lang="en-US" sz="18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181100"/>
            <a:ext cx="10280650" cy="5313045"/>
          </a:xfrm>
        </p:spPr>
        <p:txBody>
          <a:bodyPr/>
          <a:p>
            <a:pPr marL="342900" indent="-342900" algn="just">
              <a:lnSpc>
                <a:spcPct val="16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P. Zeng, Z. Zhang, R. Lu, and K.-K.-R. Choo, ‘‘Efficient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policy-hiding and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large universe attribute-based encryption with public traceability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Internet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of Medical Things,’’ IEEE Internet Things J., vol. 8, no.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13, pp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10963–10972, Jul. 2021.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60000"/>
              </a:lnSpc>
              <a:buFont typeface="Wingdings" panose="05000000000000000000" charset="0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P. Patil and M. Sangeetha, "Blockchain-based decentralized KYC verification framework for banks", Proc. Comput. Sci., vol. 215, pp. 529-536, Jan. 2022.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60000"/>
              </a:lnSpc>
              <a:buFont typeface="Wingdings" panose="05000000000000000000" charset="0"/>
              <a:buChar char="Ø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6.S. Fugkeaw, "A lightweight policy update scheme for outsourced personal health records sharing", IEEE Access, vol. 9, pp. 54862-54871, 2021.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70000"/>
              </a:lnSpc>
              <a:buFont typeface="Wingdings" panose="05000000000000000000" charset="0"/>
              <a:buChar char="Ø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J. Sun, D. Chen, N. Zhang, G. Xu, M. Tang, X. Nie, et al., "A privacy-aware and traceable fine-grained data delivery system in cloud-assisted healthcare IIoT", IEEE Internet Things J., vol. 8, no. 12, pp. 10034-10046, Jun. 2021.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66800" y="219710"/>
            <a:ext cx="10280650" cy="784860"/>
          </a:xfrm>
        </p:spPr>
        <p:txBody>
          <a:bodyPr anchor="ctr" anchorCtr="0"/>
          <a:p>
            <a:pPr algn="ctr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REFERENCES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544570" y="1711008"/>
            <a:ext cx="7913688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30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THANK YOU</a:t>
            </a:r>
            <a:endParaRPr kumimoji="0" lang="en-US" altLang="zh-CN" sz="6000" b="1" i="0" u="none" strike="noStrike" kern="1200" cap="none" spc="30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63*438"/>
  <p:tag name="TABLE_ENDDRAG_RECT" val="38*53*863*438"/>
</p:tagLst>
</file>

<file path=ppt/tags/tag2.xml><?xml version="1.0" encoding="utf-8"?>
<p:tagLst xmlns:p="http://schemas.openxmlformats.org/presentationml/2006/main">
  <p:tag name="TABLE_ENDDRAG_ORIGIN_RECT" val="863*438"/>
  <p:tag name="TABLE_ENDDRAG_RECT" val="38*53*863*438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雅黑细">
      <a:majorFont>
        <a:latin typeface="Calibri Light"/>
        <a:ea typeface="Arial"/>
        <a:cs typeface=""/>
      </a:majorFont>
      <a:minorFont>
        <a:latin typeface="Calibri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18250</Words>
  <Application>WPS Presentation</Application>
  <PresentationFormat>Widescreen</PresentationFormat>
  <Paragraphs>428</Paragraphs>
  <Slides>41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2" baseType="lpstr">
      <vt:lpstr>Arial</vt:lpstr>
      <vt:lpstr>SimSun</vt:lpstr>
      <vt:lpstr>Wingdings</vt:lpstr>
      <vt:lpstr>Calibri</vt:lpstr>
      <vt:lpstr>Microsoft YaHei Light</vt:lpstr>
      <vt:lpstr>Times New Roman</vt:lpstr>
      <vt:lpstr>Wingdings</vt:lpstr>
      <vt:lpstr>Microsoft YaHei</vt:lpstr>
      <vt:lpstr>Arial Unicode MS</vt:lpstr>
      <vt:lpstr>Calibri Light</vt:lpstr>
      <vt:lpstr>Office Theme</vt:lpstr>
      <vt:lpstr>LIGHTWEIGHT CLOAKING WALL MODEL FOR CLOUD DATA STORAGE WITH LEAKAGE CONTROL</vt:lpstr>
      <vt:lpstr>ABSTRACT</vt:lpstr>
      <vt:lpstr>OBJECTIVES</vt:lpstr>
      <vt:lpstr>COMPANY PROFILE</vt:lpstr>
      <vt:lpstr>SOFTWARE REQUIREMENTS</vt:lpstr>
      <vt:lpstr>INTRODUCTION</vt:lpstr>
      <vt:lpstr>LITERATURE SURVEY</vt:lpstr>
      <vt:lpstr>LITERATURE SURVEY</vt:lpstr>
      <vt:lpstr>EXISTING SYSTEM</vt:lpstr>
      <vt:lpstr>DISADVANTAGES OF EXISTING SYSTEM</vt:lpstr>
      <vt:lpstr>PROPOSED SYSTEM</vt:lpstr>
      <vt:lpstr>PROPOSED SYSTEM</vt:lpstr>
      <vt:lpstr>ADVANTAGES OF PROPOSED SYSTEM</vt:lpstr>
      <vt:lpstr>      SYSTEM             ARCHITECTURE</vt:lpstr>
      <vt:lpstr>DATA FLOW DIAGRAM</vt:lpstr>
      <vt:lpstr>USECASE DIAGRAM</vt:lpstr>
      <vt:lpstr>MODULES</vt:lpstr>
      <vt:lpstr>CLOUD SERVICE PROVIDER WEB APP</vt:lpstr>
      <vt:lpstr>END USER INTERFACE</vt:lpstr>
      <vt:lpstr>END USER INTERFACE</vt:lpstr>
      <vt:lpstr>CLOAKING WALL MODULES</vt:lpstr>
      <vt:lpstr>ACCESS POLICY CONFIGURATOR</vt:lpstr>
      <vt:lpstr>BOT IDENTIFICATION AND DATA DISTRIBUTION</vt:lpstr>
      <vt:lpstr>DISGUISE DATA GENARATOR</vt:lpstr>
      <vt:lpstr>MONITORING AND AUDITING</vt:lpstr>
      <vt:lpstr>ALERTS AND NOTIFICATIONS</vt:lpstr>
      <vt:lpstr>PSEUDO CODE</vt:lpstr>
      <vt:lpstr>CONCLUSION</vt:lpstr>
      <vt:lpstr>FUTURE ENCHANCEMENT</vt:lpstr>
      <vt:lpstr>SAMPLE SCREENS</vt:lpstr>
      <vt:lpstr>DATA OWNER LOGIN PAGE</vt:lpstr>
      <vt:lpstr>DATA OWNER REGISTRATION PAGE</vt:lpstr>
      <vt:lpstr>FILE UPLOAD (DATA OWNER)</vt:lpstr>
      <vt:lpstr>SHARE FILES (LONG TERM CLOAKING)</vt:lpstr>
      <vt:lpstr>SHARED FILES (GEO LOCATION BASED)</vt:lpstr>
      <vt:lpstr>SHARED FILES (MULTI REGION BASED)</vt:lpstr>
      <vt:lpstr>SHARED FILES (DATA USER)</vt:lpstr>
      <vt:lpstr>PAYMENT PAGE</vt:lpstr>
      <vt:lpstr>REFERENCES</vt:lpstr>
      <vt:lpstr>REFERENCES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annjo</dc:creator>
  <cp:lastModifiedBy>karthi keyan</cp:lastModifiedBy>
  <cp:revision>67</cp:revision>
  <dcterms:created xsi:type="dcterms:W3CDTF">2015-10-06T12:45:00Z</dcterms:created>
  <dcterms:modified xsi:type="dcterms:W3CDTF">2024-08-14T06:15:16Z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1033-12.2.0.17153</vt:lpwstr>
  </property>
  <property fmtid="{D5CDD505-2E9C-101B-9397-08002B2CF9AE}" pid="3" name="ICV">
    <vt:lpwstr>DBEE7A3E6A5C43F2AE88D8171747DBFE_13</vt:lpwstr>
  </property>
</Properties>
</file>